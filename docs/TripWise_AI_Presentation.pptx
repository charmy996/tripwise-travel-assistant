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TripWise AI presentation. This project demonstrates an evidence-grounded travel planning and policy validation assistant that refuses to hallucinate facts, cites verifiable page-level evidence, and validates rules into explainable compliance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Conventional AI travel assistants optimize for linguistic fluency rather than verifiable correctness. Arriving with bags before hotel drop-off hours ruins a trip. TripWise AI addresses all four failure modes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Invariants are non-negotiable rules baked into the software. A missing document produces UNKNOWN, never a quiet PASS. If a rule lives only in a prompt, it gets broken; our invariants live in code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Rather than a simple conversational chatbot, TripWise AI provides a structured, audit-ready travel planning workspace. Travellers can see their itinerary, the exact citations behind it, and modify it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application follows a clean separation of concerns: ingestion, vector search, orchestration, and presentation. All chunk IDs in SQLite stay strictly in sync with FAISS vector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hybrid search? Policy questions need semantic understanding to map natural language questions to policy clauses, but also exact lexical matching for specific times like 3:00 PM, weights like 15 kg, and tariffs like INR 650.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monolithic prompt hides errors. By splitting the workflow into 6 discrete nodes in the style of LangGraph, every step is inspectable, timed, and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travel assistants confuse 'I found no problem' with 'I found no information'. TripWise AI guarantees that PASS requires positive proof. A missing document generates UNKNOWN, never an unearned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requirement is backed by concrete automated tests. The backend pytest suite passes all 21 tests in under 5 seconds, and the frontend Vitest suite passes all 9 tests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TripWise AI shows that generative AI in travel planning must be evidence-first. By enforcing citations, policy validation, and transparent conflict reporting, travellers receive realistic, trustworthy itineraries.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MASTER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486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766E"/>
                </a:solidFill>
              </a:defRPr>
            </a:pPr>
            <a:r>
              <a:t>TripWise AI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Source-Grounded Travel Planning and Policy Assistant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Hybrid Semantic (FAISS) + Lexical (BM25) RAG Pipeline, 6-Stage State-Graph Workflow &amp; 4-State Compliance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132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676655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Academic Development Roster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Master of Technology / Research Cohort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 Charmy Parekh (Roll No. N072) — Document Ingestion &amp; Hybrid RAG Engine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</a:defRPr>
            </a:pPr>
            <a:r>
              <a:t>•  Harshit Rai (Roll No. N083) — 6-Stage Workflow Engine &amp; Policy Validation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</a:defRPr>
            </a:pPr>
            <a:r>
              <a:t>•  Shubh Soni (Roll No. N100) — React + TypeScript Frontend, UX &amp; Test Suite</a:t>
            </a:r>
          </a:p>
        </p:txBody>
      </p:sp>
      <p:pic>
        <p:nvPicPr>
          <p:cNvPr id="9" name="Picture 8" descr="fig5_conflict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3200400" cy="31115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349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✓  Zero Fabrication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Page-Numbered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5349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⚖  Policy Compliance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PASS / WARN / FAIL / UNK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349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⚡  Sub-75ms Latency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Progressive 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53492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🔒  100% Offline Mode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Deterministic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Why Conventional AI Travel Planners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Real-World Policy Complexity vs. Systematic Generative AI Hallucination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Real-World Travel Planning Complexity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Reconciling heterogeneous, non-cooperating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•  Information Fragmentation: </a:t>
            </a:r>
            <a:r>
              <a:rPr b="0">
                <a:solidFill>
                  <a:srgbClr val="1E293B"/>
                </a:solidFill>
              </a:rPr>
              <a:t>Attraction guides, hotel policies, transit manuals, and entry notices written independently by different authorities.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 High Stakes of Policy Violations: </a:t>
            </a:r>
            <a:r>
              <a:rPr b="0">
                <a:solidFill>
                  <a:srgbClr val="1E293B"/>
                </a:solidFill>
              </a:rPr>
              <a:t>Arriving at 8:30 AM when hotel baggage drop-off is prohibited before 10:00 AM completely disrupts travel day 1.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 Transit Luggage &amp; Peak Restrictions: </a:t>
            </a:r>
            <a:r>
              <a:rPr b="0">
                <a:solidFill>
                  <a:srgbClr val="1E293B"/>
                </a:solidFill>
              </a:rPr>
              <a:t>Public metro peak-hour cabin bag size and weight limits (e.g., max 15 kg between 8:00–10:30 AM).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 Advance Permit Windows: </a:t>
            </a:r>
            <a:r>
              <a:rPr b="0">
                <a:solidFill>
                  <a:srgbClr val="1E293B"/>
                </a:solidFill>
              </a:rPr>
              <a:t>Heritage zones requiring mandatory 24-hour advance digital eco-pass registrations.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 Systematic Failure Modes of LLMs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Documented risks in standard unconstrained RAG architectures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01  Parametric Hallucination</a:t>
            </a:r>
            <a:br/>
            <a:r>
              <a:rPr sz="1100" b="0">
                <a:solidFill>
                  <a:srgbClr val="1E293B"/>
                </a:solidFill>
              </a:rPr>
              <a:t>Models blend patterns from pre-training weights into plausible-sounding but completely fabricated check-in times and fares.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</a:defRPr>
            </a:pPr>
            <a:r>
              <a:t>02  Fabricated Citations</a:t>
            </a:r>
            <a:br/>
            <a:r>
              <a:rPr sz="1100" b="0">
                <a:solidFill>
                  <a:srgbClr val="1E293B"/>
                </a:solidFill>
              </a:rPr>
              <a:t>When prompted for sources, unconstrained LLMs invent document titles, URLs, and non-existent page numbers.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03  Silent Conflict Suppression</a:t>
            </a:r>
            <a:br/>
            <a:r>
              <a:rPr sz="1100" b="0">
                <a:solidFill>
                  <a:srgbClr val="1E293B"/>
                </a:solidFill>
              </a:rPr>
              <a:t>When an older guide lists INR 500 while a new circular states INR 650, standard RAG overwrites or guesses without alerting the user.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04  Temporal &amp; Epistemic Blindness</a:t>
            </a:r>
            <a:br/>
            <a:r>
              <a:rPr sz="1100" b="0">
                <a:solidFill>
                  <a:srgbClr val="1E293B"/>
                </a:solidFill>
              </a:rPr>
              <a:t>Treating an undated PDF or an outdated 2024 notice as current, and confusing static documents with live real-time headways.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OBJECTIVES &amp;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Architected for Truth: Five Non-Fabrication Invariants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Guaranteed architectural guardrails that cannot be bypassed by prompt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Core Engineering Objectives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Targeted full-stack verification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766E"/>
                </a:solidFill>
              </a:defRPr>
            </a:pPr>
            <a:r>
              <a:t>1.  Hybrid Knowledge Grounding: </a:t>
            </a:r>
            <a:r>
              <a:rPr b="0">
                <a:solidFill>
                  <a:srgbClr val="1E293B"/>
                </a:solidFill>
              </a:rPr>
              <a:t>Retrieve destination facts and policy rules strictly from curated PDF, Markdown, and TXT documents.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</a:defRPr>
            </a:pPr>
            <a:r>
              <a:t>2.  Inspectable 6-Stage Workflow: </a:t>
            </a:r>
            <a:r>
              <a:rPr b="0">
                <a:solidFill>
                  <a:srgbClr val="1E293B"/>
                </a:solidFill>
              </a:rPr>
              <a:t>Deconstruct planning into 6 observable state-graph nodes with persisted execution telemetry.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</a:defRPr>
            </a:pPr>
            <a:r>
              <a:t>3.  4-State Policy Engine: </a:t>
            </a:r>
            <a:r>
              <a:rPr b="0">
                <a:solidFill>
                  <a:srgbClr val="1E293B"/>
                </a:solidFill>
              </a:rPr>
              <a:t>Categorize rules strictly into PASS, WARNING, FAIL, and UNKNOWN with required evidence.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</a:defRPr>
            </a:pPr>
            <a:r>
              <a:t>4.  Freshness &amp; Conflict Detection: </a:t>
            </a:r>
            <a:r>
              <a:rPr b="0">
                <a:solidFill>
                  <a:srgbClr val="1E293B"/>
                </a:solidFill>
              </a:rPr>
              <a:t>Proactively flag undated documents, pre-2025 advisories, and side-by-side tariff contradictions.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</a:defRPr>
            </a:pPr>
            <a:r>
              <a:t>5.  Zero Paid-API Lock-in: </a:t>
            </a:r>
            <a:r>
              <a:rPr b="0">
                <a:solidFill>
                  <a:srgbClr val="1E293B"/>
                </a:solidFill>
              </a:rPr>
              <a:t>Provide 100% deterministic local execution without requiring external paid LLM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Five Architectural Invariants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Enforced at the Python type and database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🛡  Invariant 1: No Unbacked Citations</a:t>
            </a:r>
            <a:br/>
            <a:r>
              <a:rPr sz="1050" b="0">
                <a:solidFill>
                  <a:srgbClr val="1E293B"/>
                </a:solidFill>
              </a:rPr>
              <a:t>Every citation must reference an actual chunk_id retrieved in the active run. Zero fabrication.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🛡  Invariant 2: Explicit Unverified Labelling</a:t>
            </a:r>
            <a:br/>
            <a:r>
              <a:rPr sz="1050" b="0">
                <a:solidFill>
                  <a:srgbClr val="1E293B"/>
                </a:solidFill>
              </a:rPr>
              <a:t>If no document covers a destination, activities are marked as unverified placeholders with cost = null.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🛡  Invariant 3: No Silent Conflict Suppression</a:t>
            </a:r>
            <a:br/>
            <a:r>
              <a:rPr sz="1050" b="0">
                <a:solidFill>
                  <a:srgbClr val="1E293B"/>
                </a:solidFill>
              </a:rPr>
              <a:t>Contradicting chunks across different documents are both retained and displayed side-by-side.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🛡  Invariant 4: Similarity Is Not Certainty</a:t>
            </a:r>
            <a:br/>
            <a:r>
              <a:rPr sz="1050" b="0">
                <a:solidFill>
                  <a:srgbClr val="1E293B"/>
                </a:solidFill>
              </a:rPr>
              <a:t>Retrieval scores appear as cosine/BM25 similarity numbers, never as factual confidence percentages.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🛡  Invariant 5: Safe Failure Semantics</a:t>
            </a:r>
            <a:br/>
            <a:r>
              <a:rPr sz="1050" b="0">
                <a:solidFill>
                  <a:srgbClr val="1E293B"/>
                </a:solidFill>
              </a:rPr>
              <a:t>A failed external lookup or LLM timeout never crashes the pipeline and never counts as a PASS.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One Workspace. From Trip Brief to Verified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TripWise AI combines guided trip setup, a planning dashboard and interactive re-planning.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01  PLAN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4-Step Planning Wizard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Origin, destination, dates, travellers, budget, travel style, interests, transport modes, and accommodation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02  INSPECT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7-Tab Planning Dashboard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Itinerary with page citations, source inspector, policy checks, missing-info view, document library, and telemetry.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4290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03  ADJUST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Interactive Re-Planning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Edit activities inline, reorder schedule, recalculate budget dynamically, and resolve policy conflicts in one click.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t>End-to-End User Experience Lifecycle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1. Trip Wizard Input  ➔  2. Knowledge Retrieval (27 Chunks)  ➔  3. Daily Itinerary Assembly  ➔  4. Policy Audit (PASS/FAIL)  ➔  5. Interactive Re-Plan &amp; Quick-Fix  ➔  6. Export Plan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Fully dual-mode: Operates seamlessly in local terminal dev and as an interactive static deployment on Vercel.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Full-Stack Local Prototype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Decoupled three-tier architecture with zero external paid API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Data Sources &amp; Documents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PDF Files: </a:t>
            </a:r>
            <a:r>
              <a:rPr b="0">
                <a:solidFill>
                  <a:srgbClr val="1E293B"/>
                </a:solidFill>
              </a:rPr>
              <a:t>2-page real accommodation policies with PyMuPDF page extraction.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Markdown Files: </a:t>
            </a:r>
            <a:r>
              <a:rPr b="0">
                <a:solidFill>
                  <a:srgbClr val="1E293B"/>
                </a:solidFill>
              </a:rPr>
              <a:t>Destination guides &amp; transit rider manuals with section headings.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Text Circulars: </a:t>
            </a:r>
            <a:r>
              <a:rPr b="0">
                <a:solidFill>
                  <a:srgbClr val="1E293B"/>
                </a:solidFill>
              </a:rPr>
              <a:t>Municipal tariff updates &amp; safety advisories.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Security Guards: </a:t>
            </a:r>
            <a:r>
              <a:rPr b="0">
                <a:solidFill>
                  <a:srgbClr val="1E293B"/>
                </a:solidFill>
              </a:rPr>
              <a:t>SHA-256 deduplication, path traversal whitelist, prompt injection filter.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FastAPI Backend &amp; RAG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REST API Layer: </a:t>
            </a:r>
            <a:r>
              <a:rPr b="0">
                <a:solidFill>
                  <a:srgbClr val="1E293B"/>
                </a:solidFill>
              </a:rPr>
              <a:t>24 endpoints under /api with Pydantic request/response validation.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Hybrid RAG Engine: </a:t>
            </a:r>
            <a:r>
              <a:rPr b="0">
                <a:solidFill>
                  <a:srgbClr val="1E293B"/>
                </a:solidFill>
              </a:rPr>
              <a:t>FAISS IndexFlatIP (384-d dense vectors) + Okapi BM25 keyword search.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6-Stage Workflow: </a:t>
            </a:r>
            <a:r>
              <a:rPr b="0">
                <a:solidFill>
                  <a:srgbClr val="1E293B"/>
                </a:solidFill>
              </a:rPr>
              <a:t>State-graph execution pipeline with per-node timing and telemetry.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SQLite Database: </a:t>
            </a:r>
            <a:r>
              <a:rPr b="0">
                <a:solidFill>
                  <a:srgbClr val="1E293B"/>
                </a:solidFill>
              </a:rPr>
              <a:t>Four relational tables: documents, document_chunks, trips, workflow_runs.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React 18 + TS Frontend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Trip Wizard: </a:t>
            </a:r>
            <a:r>
              <a:rPr b="0">
                <a:solidFill>
                  <a:srgbClr val="1E293B"/>
                </a:solidFill>
              </a:rPr>
              <a:t>Dynamic CityAutocomplete with OSM Nominatim &amp; offline fallback.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Planning Dashboard: </a:t>
            </a:r>
            <a:r>
              <a:rPr b="0">
                <a:solidFill>
                  <a:srgbClr val="1E293B"/>
                </a:solidFill>
              </a:rPr>
              <a:t>7-tab workspace with Recharts budget analytics and workflow tracker.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Itinerary Editor: </a:t>
            </a:r>
            <a:r>
              <a:rPr b="0">
                <a:solidFill>
                  <a:srgbClr val="1E293B"/>
                </a:solidFill>
              </a:rPr>
              <a:t>Client-side add/edit/delete/reorder with instant cost recalculation.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Demo Fallback Engine: </a:t>
            </a:r>
            <a:r>
              <a:rPr b="0">
                <a:solidFill>
                  <a:srgbClr val="1E293B"/>
                </a:solidFill>
              </a:rPr>
              <a:t>Seamless dual-mode operation for offline or static Vercel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97880"/>
            <a:ext cx="1069848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STACK: Python 3.14  |  FastAPI  |  React 18  |  TypeScript  |  FAISS  |  PyMuPDF  |  Okapi BM25  |  SQLite  |  Vite  |  Tailwind CSS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HYBRID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Combines Semantic and Lexical Search for Reliable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55% Semantic (FAISS) + 45% Lexical (Okapi BM25) with Metadata-Aware Chunking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766E"/>
                </a:solidFill>
              </a:defRPr>
            </a:pPr>
            <a:r>
              <a:t>1. Ingestion &amp; Security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PDF, Markdown &amp; TXT up to 10MB.</a:t>
            </a:r>
            <a:br/>
            <a:r>
              <a:t>SHA-256 hash deduplication.</a:t>
            </a:r>
            <a:br/>
            <a:r>
              <a:t>Regex prompt injection neutralization.</a:t>
            </a:r>
            <a:br/>
            <a:r>
              <a:t>Async BackgroundTasks progression.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Page-Aware Chunking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PyMuPDF exact 1-based page numbers.</a:t>
            </a:r>
            <a:br/>
            <a:r>
              <a:t>Markdown &amp; numbered clause segmentation.</a:t>
            </a:r>
            <a:br/>
            <a:r>
              <a:t>Max 650 chars bound to active heading.</a:t>
            </a:r>
            <a:br/>
            <a:r>
              <a:t>Zero lost page references.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3. Dual Index Retrieval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Dense: Sentence-BERT 384-d vectors in FAISS IndexFlatIP (cosine similarity).</a:t>
            </a:r>
            <a:br/>
            <a:r>
              <a:t>Lexical: Okapi BM25 with curated travel synonym expansion.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9659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Fusion &amp; Reranking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Final score = 0.55 * Sem + 0.45 * Lex.</a:t>
            </a:r>
            <a:br/>
            <a:r>
              <a:t>Filter by destination &amp; category.</a:t>
            </a:r>
            <a:br/>
            <a:r>
              <a:t>Deduplication by content MD5 hash.</a:t>
            </a:r>
            <a:br/>
            <a:r>
              <a:t>Freshness &amp; date tagging.</a:t>
            </a:r>
          </a:p>
        </p:txBody>
      </p:sp>
      <p:pic>
        <p:nvPicPr>
          <p:cNvPr id="15" name="Picture 14" descr="fig6_document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892040"/>
            <a:ext cx="106984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LANGGRAPH 6-STAGE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From User Preferences to a Verified Itinerary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Six-node state-graph execution passing typed state objects with per-node telemetry</a:t>
            </a:r>
          </a:p>
        </p:txBody>
      </p:sp>
      <p:pic>
        <p:nvPicPr>
          <p:cNvPr id="7" name="Picture 6" descr="fig1_workflow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212080" cy="2560320"/>
          </a:xfrm>
          <a:prstGeom prst="rect">
            <a:avLst/>
          </a:prstGeom>
        </p:spPr>
      </p:pic>
      <p:pic>
        <p:nvPicPr>
          <p:cNvPr id="8" name="Picture 7" descr="fig2_dashboard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212080" cy="2560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480560"/>
            <a:ext cx="106984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Workflow Stage Responsibilities &amp; Telemetry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Each node records status, start/end timestamps, warnings, and structured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766E"/>
                </a:solidFill>
              </a:defRPr>
            </a:pPr>
            <a:r>
              <a:t>• Stage 1: Preferences: </a:t>
            </a:r>
            <a:r>
              <a:rPr b="0">
                <a:solidFill>
                  <a:srgbClr val="1E293B"/>
                </a:solidFill>
              </a:rPr>
              <a:t>Validates date order (HTTP 422 if return &lt; departure), calculates duration &amp; budget, detects contradictions.</a:t>
            </a:r>
          </a:p>
          <a:p>
            <a:pPr>
              <a:spcBef>
                <a:spcPts val="200"/>
              </a:spcBef>
              <a:defRPr sz="1050" b="1">
                <a:solidFill>
                  <a:srgbClr val="0F766E"/>
                </a:solidFill>
              </a:defRPr>
            </a:pPr>
            <a:r>
              <a:t>• Stage 2: Retrieval: </a:t>
            </a:r>
            <a:r>
              <a:rPr b="0">
                <a:solidFill>
                  <a:srgbClr val="1E293B"/>
                </a:solidFill>
              </a:rPr>
              <a:t>Runs 5 targeted hybrid queries across knowledge base, deduplicating chunks &amp; filtering by destination.</a:t>
            </a:r>
          </a:p>
          <a:p>
            <a:pPr>
              <a:spcBef>
                <a:spcPts val="200"/>
              </a:spcBef>
              <a:defRPr sz="1050" b="1">
                <a:solidFill>
                  <a:srgbClr val="0F766E"/>
                </a:solidFill>
              </a:defRPr>
            </a:pPr>
            <a:r>
              <a:t>• Stage 3: Itinerary: </a:t>
            </a:r>
            <a:r>
              <a:rPr b="0">
                <a:solidFill>
                  <a:srgbClr val="1E293B"/>
                </a:solidFill>
              </a:rPr>
              <a:t>Synthesizes Morning, Afternoon, Evening schedule, attaches citations, and calculates budget breakdown.</a:t>
            </a:r>
          </a:p>
          <a:p>
            <a:pPr>
              <a:spcBef>
                <a:spcPts val="200"/>
              </a:spcBef>
              <a:defRPr sz="1050" b="1">
                <a:solidFill>
                  <a:srgbClr val="0F766E"/>
                </a:solidFill>
              </a:defRPr>
            </a:pPr>
            <a:r>
              <a:t>• Stage 4: Policy Audit: </a:t>
            </a:r>
            <a:r>
              <a:rPr b="0">
                <a:solidFill>
                  <a:srgbClr val="1E293B"/>
                </a:solidFill>
              </a:rPr>
              <a:t>Evaluates 8 core travel rules against retrieved evidence, outputting PASS, WARNING, FAIL, or UNKNOWN.</a:t>
            </a:r>
          </a:p>
          <a:p>
            <a:pPr>
              <a:spcBef>
                <a:spcPts val="200"/>
              </a:spcBef>
              <a:defRPr sz="1050" b="1">
                <a:solidFill>
                  <a:srgbClr val="0F766E"/>
                </a:solidFill>
              </a:defRPr>
            </a:pPr>
            <a:r>
              <a:t>• Stage 5: Freshness: </a:t>
            </a:r>
            <a:r>
              <a:rPr b="0">
                <a:solidFill>
                  <a:srgbClr val="1E293B"/>
                </a:solidFill>
              </a:rPr>
              <a:t>Audits publication dates, detects multi-document tariff conflicts, and calls optional live-verification adapters.</a:t>
            </a:r>
          </a:p>
          <a:p>
            <a:pPr>
              <a:spcBef>
                <a:spcPts val="200"/>
              </a:spcBef>
              <a:defRPr sz="1050" b="1">
                <a:solidFill>
                  <a:srgbClr val="0F766E"/>
                </a:solidFill>
              </a:defRPr>
            </a:pPr>
            <a:r>
              <a:t>• Stage 6: Assembly: </a:t>
            </a:r>
            <a:r>
              <a:rPr b="0">
                <a:solidFill>
                  <a:srgbClr val="1E293B"/>
                </a:solidFill>
              </a:rPr>
              <a:t>Calculates is_fully_verified flag, generates 'How this plan was created' audit summary, and persists to SQLite.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POLICY VALIDATION &amp;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4-State Compliance Engine &amp; Interactive Conflict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Every policy rule resolves into PASS, WARNING, FAIL, or UNKNOWN with cited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Four-State Policy Compliance Engine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PASS requires affirmative evidence — never silence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●  PASS: </a:t>
            </a:r>
            <a:r>
              <a:rPr b="0" sz="1050">
                <a:solidFill>
                  <a:srgbClr val="0F172A"/>
                </a:solidFill>
              </a:rPr>
              <a:t>Retrieved evidence affirmatively supports rule compliance.
</a:t>
            </a:r>
            <a:r>
              <a:rPr b="0" sz="1000">
                <a:solidFill>
                  <a:srgbClr val="64748B"/>
                </a:solidFill>
              </a:rPr>
              <a:t>   Example: Total cost INR 17,496 is within stated INR 25,000 budget.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●  WARNING: </a:t>
            </a:r>
            <a:r>
              <a:rPr b="0" sz="1050">
                <a:solidFill>
                  <a:srgbClr val="0F172A"/>
                </a:solidFill>
              </a:rPr>
              <a:t>Rule is usable but carries conditions, outdated sources, or conflicts.
</a:t>
            </a:r>
            <a:r>
              <a:rPr b="0" sz="1000">
                <a:solidFill>
                  <a:srgbClr val="64748B"/>
                </a:solidFill>
              </a:rPr>
              <a:t>   Example: Peak-hour metro 15 kg limit; museum tariff INR 500 vs 650.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</a:defRPr>
            </a:pPr>
            <a:r>
              <a:t>●  FAIL: </a:t>
            </a:r>
            <a:r>
              <a:rPr b="0" sz="1050">
                <a:solidFill>
                  <a:srgbClr val="0F172A"/>
                </a:solidFill>
              </a:rPr>
              <a:t>Evidence explicitly shows the user request breaks property/transit rules.
</a:t>
            </a:r>
            <a:r>
              <a:rPr b="0" sz="1000">
                <a:solidFill>
                  <a:srgbClr val="64748B"/>
                </a:solidFill>
              </a:rPr>
              <a:t>   Example: 8:30 AM arrival vs Hotel ban on luggage before 10:00 AM.</a:t>
            </a:r>
          </a:p>
          <a:p>
            <a:pPr>
              <a:spcBef>
                <a:spcPts val="800"/>
              </a:spcBef>
              <a:defRPr sz="1200" b="1">
                <a:solidFill>
                  <a:srgbClr val="64748B"/>
                </a:solidFill>
              </a:defRPr>
            </a:pPr>
            <a:r>
              <a:t>●  UNKNOWN: </a:t>
            </a:r>
            <a:r>
              <a:rPr b="0" sz="1050">
                <a:solidFill>
                  <a:srgbClr val="0F172A"/>
                </a:solidFill>
              </a:rPr>
              <a:t>Static documents lack sufficient real-time information.
</a:t>
            </a:r>
            <a:r>
              <a:rPr b="0" sz="1000">
                <a:solidFill>
                  <a:srgbClr val="64748B"/>
                </a:solidFill>
              </a:rPr>
              <a:t>   Example: Live metro departure headways &amp; train status.</a:t>
            </a:r>
          </a:p>
        </p:txBody>
      </p:sp>
      <p:pic>
        <p:nvPicPr>
          <p:cNvPr id="10" name="Picture 9" descr="fig4_policy_checks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148840"/>
          </a:xfrm>
          <a:prstGeom prst="rect">
            <a:avLst/>
          </a:prstGeom>
        </p:spPr>
      </p:pic>
      <p:pic>
        <p:nvPicPr>
          <p:cNvPr id="11" name="Picture 10" descr="fig3_itinerary_ci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2120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EXPECTED &amp; OBSERVED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Sub-Second Execution &amp; 100% Automated Test Pass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Comprehensive evaluation across seeded corpus, scenario testing, and automated test suites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Measured Performance Benchmarks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Benchmarked on standard local developer workstation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Dashboard Summary</a:t>
            </a:r>
            <a:br/>
            <a:r>
              <a:rPr sz="1000" b="0">
                <a:solidFill>
                  <a:srgbClr val="10B981"/>
                </a:solidFill>
              </a:rPr>
              <a:t>  Target: &lt; 300 ms  ➔  Measured: 71.05 ms  (4.2x Faster (Passed))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Document Listing (Paginated)</a:t>
            </a:r>
            <a:br/>
            <a:r>
              <a:rPr sz="1000" b="0">
                <a:solidFill>
                  <a:srgbClr val="10B981"/>
                </a:solidFill>
              </a:rPr>
              <a:t>  Target: &lt; 200 ms  ➔  Measured: 5.38 ms  (Instantaneous (Passed))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City Autocomplete (Network)</a:t>
            </a:r>
            <a:br/>
            <a:r>
              <a:rPr sz="1000" b="0">
                <a:solidFill>
                  <a:srgbClr val="10B981"/>
                </a:solidFill>
              </a:rPr>
              <a:t>  Target: &lt; 300 ms  ➔  Measured: 180.15 ms  (Debounced &amp; Cached (Passed))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City Autocomplete (TTL Cache)</a:t>
            </a:r>
            <a:br/>
            <a:r>
              <a:rPr sz="1000" b="0">
                <a:solidFill>
                  <a:srgbClr val="10B981"/>
                </a:solidFill>
              </a:rPr>
              <a:t>  Target: &lt; 50 ms  ➔  Measured: 4.56 ms  (Sub-5ms Lookup (Passed))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Recent Trips Summary</a:t>
            </a:r>
            <a:br/>
            <a:r>
              <a:rPr sz="1000" b="0">
                <a:solidFill>
                  <a:srgbClr val="10B981"/>
                </a:solidFill>
              </a:rPr>
              <a:t>  Target: &lt; 100 ms  ➔  Measured: 6.87 ms  (Instantaneous (Passed))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• Workflow Re-Planning Re-Run</a:t>
            </a:r>
            <a:br/>
            <a:r>
              <a:rPr sz="1000" b="0">
                <a:solidFill>
                  <a:srgbClr val="10B981"/>
                </a:solidFill>
              </a:rPr>
              <a:t>  Target: &lt; 500 ms  ➔  Measured: 78.40 ms  (Live Interactive (Passed))</a:t>
            </a:r>
          </a:p>
        </p:txBody>
      </p:sp>
      <p:pic>
        <p:nvPicPr>
          <p:cNvPr id="10" name="Picture 9" descr="fig7_test_suites_pa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5943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/ 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766E"/>
                </a:solidFill>
              </a:defRPr>
            </a:pPr>
            <a:r>
              <a:t>✈  TripWise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Towards a Reliable and Scalable AI Travel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Academic demonstration of evidence-grounded generative AI with zero hallucination tolerance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Takeaways &amp; Contributions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Proven benefits of source-grounded travel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766E"/>
                </a:solidFill>
              </a:defRPr>
            </a:pPr>
            <a:r>
              <a:t>✓  Verifiable Travel Planning: </a:t>
            </a:r>
            <a:r>
              <a:rPr b="0">
                <a:solidFill>
                  <a:srgbClr val="1E293B"/>
                </a:solidFill>
              </a:rPr>
              <a:t>Eliminates AI guesswork by anchoring all facts and itinerary items to retrieved document chunks.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</a:defRPr>
            </a:pPr>
            <a:r>
              <a:t>✓  Hybrid Retrieval Precision: </a:t>
            </a:r>
            <a:r>
              <a:rPr b="0">
                <a:solidFill>
                  <a:srgbClr val="1E293B"/>
                </a:solidFill>
              </a:rPr>
              <a:t>Combines semantic vector concepts with exact lexical keyword matching for hours, baggage limits, and prices.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</a:defRPr>
            </a:pPr>
            <a:r>
              <a:t>✓  Strict Compliance Invariants: </a:t>
            </a:r>
            <a:r>
              <a:rPr b="0">
                <a:solidFill>
                  <a:srgbClr val="1E293B"/>
                </a:solidFill>
              </a:rPr>
              <a:t>Enforces non-negotiable rules: no unbacked citations, unverified placeholders, and positive proof for PASS.</a:t>
            </a:r>
          </a:p>
          <a:p>
            <a:pPr>
              <a:spcBef>
                <a:spcPts val="800"/>
              </a:spcBef>
              <a:defRPr sz="1150" b="1">
                <a:solidFill>
                  <a:srgbClr val="0F766E"/>
                </a:solidFill>
              </a:defRPr>
            </a:pPr>
            <a:r>
              <a:t>✓  Full-Stack V2.0 Stability: </a:t>
            </a:r>
            <a:r>
              <a:rPr b="0">
                <a:solidFill>
                  <a:srgbClr val="1E293B"/>
                </a:solidFill>
              </a:rPr>
              <a:t>Engineered progressive loading, dynamic city autocomplete, interactive itinerary editing, and dual-mode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Future Engineering Scope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Planned enhancements for production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➔  Vision-LLM &amp; Tesseract OCR: </a:t>
            </a:r>
            <a:r>
              <a:rPr b="0">
                <a:solidFill>
                  <a:srgbClr val="1E293B"/>
                </a:solidFill>
              </a:rPr>
              <a:t>Add OCR extraction fallback for scanned image-only travel guide PDFs.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</a:defRPr>
            </a:pPr>
            <a:r>
              <a:t>➔  Graph-Based Multi-City Routing: </a:t>
            </a:r>
            <a:r>
              <a:rPr b="0">
                <a:solidFill>
                  <a:srgbClr val="1E293B"/>
                </a:solidFill>
              </a:rPr>
              <a:t>Extend state-graph with cyclic re-routing when weekly museum closures occur.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</a:defRPr>
            </a:pPr>
            <a:r>
              <a:t>➔  Live API Verification Adapters: </a:t>
            </a:r>
            <a:r>
              <a:rPr b="0">
                <a:solidFill>
                  <a:srgbClr val="1E293B"/>
                </a:solidFill>
              </a:rPr>
              <a:t>Connect optional live endpoints for real-time train headways, weather, and room inventory.</a:t>
            </a:r>
          </a:p>
          <a:p>
            <a:pPr>
              <a:spcBef>
                <a:spcPts val="800"/>
              </a:spcBef>
              <a:defRPr sz="1150" b="1">
                <a:solidFill>
                  <a:srgbClr val="2563EB"/>
                </a:solidFill>
              </a:defRPr>
            </a:pPr>
            <a:r>
              <a:t>➔  Currency Exchange Feed: </a:t>
            </a:r>
            <a:r>
              <a:rPr b="0">
                <a:solidFill>
                  <a:srgbClr val="1E293B"/>
                </a:solidFill>
              </a:rPr>
              <a:t>Automatically normalize multi-currency documents into user's budget currency.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